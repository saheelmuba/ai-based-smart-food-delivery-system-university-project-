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hamed Athnan Mohamed Ithrees" initials="MAMI" lastIdx="1" clrIdx="0">
    <p:extLst>
      <p:ext uri="{19B8F6BF-5375-455C-9EA6-DF929625EA0E}">
        <p15:presenceInfo xmlns:p15="http://schemas.microsoft.com/office/powerpoint/2012/main" userId="S::03241153@icst.edu.lk::35cb31d5-f5d5-4c60-9eac-4cb0eab1378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0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Athnan Mohamed Ithrees" userId="35cb31d5-f5d5-4c60-9eac-4cb0eab13783" providerId="ADAL" clId="{32D39C78-9D62-4824-B2F1-50931563CC38}"/>
    <pc:docChg chg="undo custSel modSld">
      <pc:chgData name="Mohamed Athnan Mohamed Ithrees" userId="35cb31d5-f5d5-4c60-9eac-4cb0eab13783" providerId="ADAL" clId="{32D39C78-9D62-4824-B2F1-50931563CC38}" dt="2026-03-28T15:27:49.929" v="110" actId="20577"/>
      <pc:docMkLst>
        <pc:docMk/>
      </pc:docMkLst>
      <pc:sldChg chg="modSp mod">
        <pc:chgData name="Mohamed Athnan Mohamed Ithrees" userId="35cb31d5-f5d5-4c60-9eac-4cb0eab13783" providerId="ADAL" clId="{32D39C78-9D62-4824-B2F1-50931563CC38}" dt="2026-03-28T15:05:25.678" v="11" actId="20577"/>
        <pc:sldMkLst>
          <pc:docMk/>
          <pc:sldMk cId="0" sldId="257"/>
        </pc:sldMkLst>
        <pc:spChg chg="mod">
          <ac:chgData name="Mohamed Athnan Mohamed Ithrees" userId="35cb31d5-f5d5-4c60-9eac-4cb0eab13783" providerId="ADAL" clId="{32D39C78-9D62-4824-B2F1-50931563CC38}" dt="2026-03-28T15:05:25.678" v="11" actId="20577"/>
          <ac:spMkLst>
            <pc:docMk/>
            <pc:sldMk cId="0" sldId="257"/>
            <ac:spMk id="20" creationId="{00000000-0000-0000-0000-000000000000}"/>
          </ac:spMkLst>
        </pc:spChg>
      </pc:sldChg>
      <pc:sldChg chg="modSp mod">
        <pc:chgData name="Mohamed Athnan Mohamed Ithrees" userId="35cb31d5-f5d5-4c60-9eac-4cb0eab13783" providerId="ADAL" clId="{32D39C78-9D62-4824-B2F1-50931563CC38}" dt="2026-03-28T15:27:49.929" v="110" actId="20577"/>
        <pc:sldMkLst>
          <pc:docMk/>
          <pc:sldMk cId="0" sldId="258"/>
        </pc:sldMkLst>
        <pc:spChg chg="mod">
          <ac:chgData name="Mohamed Athnan Mohamed Ithrees" userId="35cb31d5-f5d5-4c60-9eac-4cb0eab13783" providerId="ADAL" clId="{32D39C78-9D62-4824-B2F1-50931563CC38}" dt="2026-03-28T15:27:49.929" v="110" actId="20577"/>
          <ac:spMkLst>
            <pc:docMk/>
            <pc:sldMk cId="0" sldId="258"/>
            <ac:spMk id="8" creationId="{00000000-0000-0000-0000-000000000000}"/>
          </ac:spMkLst>
        </pc:spChg>
      </pc:sldChg>
      <pc:sldChg chg="addSp modSp mod addCm delCm">
        <pc:chgData name="Mohamed Athnan Mohamed Ithrees" userId="35cb31d5-f5d5-4c60-9eac-4cb0eab13783" providerId="ADAL" clId="{32D39C78-9D62-4824-B2F1-50931563CC38}" dt="2026-03-28T15:14:25.236" v="71" actId="1076"/>
        <pc:sldMkLst>
          <pc:docMk/>
          <pc:sldMk cId="0" sldId="260"/>
        </pc:sldMkLst>
        <pc:spChg chg="mod">
          <ac:chgData name="Mohamed Athnan Mohamed Ithrees" userId="35cb31d5-f5d5-4c60-9eac-4cb0eab13783" providerId="ADAL" clId="{32D39C78-9D62-4824-B2F1-50931563CC38}" dt="2026-03-28T15:14:15.874" v="69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Mohamed Athnan Mohamed Ithrees" userId="35cb31d5-f5d5-4c60-9eac-4cb0eab13783" providerId="ADAL" clId="{32D39C78-9D62-4824-B2F1-50931563CC38}" dt="2026-03-28T15:13:31.522" v="61" actId="1076"/>
          <ac:spMkLst>
            <pc:docMk/>
            <pc:sldMk cId="0" sldId="260"/>
            <ac:spMk id="31" creationId="{00000000-0000-0000-0000-000000000000}"/>
          </ac:spMkLst>
        </pc:spChg>
        <pc:spChg chg="mod">
          <ac:chgData name="Mohamed Athnan Mohamed Ithrees" userId="35cb31d5-f5d5-4c60-9eac-4cb0eab13783" providerId="ADAL" clId="{32D39C78-9D62-4824-B2F1-50931563CC38}" dt="2026-03-28T15:14:20.582" v="70" actId="1076"/>
          <ac:spMkLst>
            <pc:docMk/>
            <pc:sldMk cId="0" sldId="260"/>
            <ac:spMk id="34" creationId="{00000000-0000-0000-0000-000000000000}"/>
          </ac:spMkLst>
        </pc:spChg>
        <pc:spChg chg="mod">
          <ac:chgData name="Mohamed Athnan Mohamed Ithrees" userId="35cb31d5-f5d5-4c60-9eac-4cb0eab13783" providerId="ADAL" clId="{32D39C78-9D62-4824-B2F1-50931563CC38}" dt="2026-03-28T15:14:25.236" v="71" actId="1076"/>
          <ac:spMkLst>
            <pc:docMk/>
            <pc:sldMk cId="0" sldId="260"/>
            <ac:spMk id="36" creationId="{00000000-0000-0000-0000-000000000000}"/>
          </ac:spMkLst>
        </pc:spChg>
        <pc:spChg chg="mod">
          <ac:chgData name="Mohamed Athnan Mohamed Ithrees" userId="35cb31d5-f5d5-4c60-9eac-4cb0eab13783" providerId="ADAL" clId="{32D39C78-9D62-4824-B2F1-50931563CC38}" dt="2026-03-28T15:13:54.418" v="66" actId="1076"/>
          <ac:spMkLst>
            <pc:docMk/>
            <pc:sldMk cId="0" sldId="260"/>
            <ac:spMk id="38" creationId="{00000000-0000-0000-0000-000000000000}"/>
          </ac:spMkLst>
        </pc:spChg>
        <pc:spChg chg="add mod">
          <ac:chgData name="Mohamed Athnan Mohamed Ithrees" userId="35cb31d5-f5d5-4c60-9eac-4cb0eab13783" providerId="ADAL" clId="{32D39C78-9D62-4824-B2F1-50931563CC38}" dt="2026-03-28T15:09:30.085" v="16" actId="1076"/>
          <ac:spMkLst>
            <pc:docMk/>
            <pc:sldMk cId="0" sldId="260"/>
            <ac:spMk id="41" creationId="{08F607E3-53B1-4ED6-A962-322ED6294567}"/>
          </ac:spMkLst>
        </pc:spChg>
        <pc:spChg chg="add mod">
          <ac:chgData name="Mohamed Athnan Mohamed Ithrees" userId="35cb31d5-f5d5-4c60-9eac-4cb0eab13783" providerId="ADAL" clId="{32D39C78-9D62-4824-B2F1-50931563CC38}" dt="2026-03-28T15:13:35.769" v="62" actId="1076"/>
          <ac:spMkLst>
            <pc:docMk/>
            <pc:sldMk cId="0" sldId="260"/>
            <ac:spMk id="42" creationId="{156F4FE5-3DB3-49DB-ADFF-B29AF9BA13D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78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6E9A">
              <a:alpha val="30000"/>
            </a:srgbClr>
          </a:solidFill>
          <a:ln w="12700">
            <a:solidFill>
              <a:srgbClr val="0D6E9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2C5A0">
              <a:alpha val="25000"/>
            </a:srgbClr>
          </a:solidFill>
          <a:ln w="12700">
            <a:solidFill>
              <a:srgbClr val="02C5A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F4884A">
              <a:alpha val="20000"/>
            </a:srgbClr>
          </a:solidFill>
          <a:ln w="12700">
            <a:solidFill>
              <a:srgbClr val="F4884A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2377440" cy="310896"/>
          </a:xfrm>
          <a:prstGeom prst="rect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ML PROJECT PROPOSAL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AI-Based Smart Food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System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02C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ICST University Park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44074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Smarter ordering • Zero waiting • Intelligent delivery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54864" cy="3291840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canteens handle hundreds of daily orders from students and staff with limited automation or intelligence in the ordering process.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60120"/>
            <a:ext cx="54864" cy="3291840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Context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systems cause long queues, order errors, food waste, and overcrowding — especially during peak hours between classes.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9601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960120"/>
            <a:ext cx="54864" cy="3291840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&amp; ML technologies offer powerful tools to automate ordering, predict demand, personalize recommendations, and optimize delivery on campus.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Submitted to: Department of AI / ML  </a:t>
            </a:r>
            <a:r>
              <a:rPr lang="en-US" sz="1000" i="1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Class: </a:t>
            </a:r>
            <a:r>
              <a:rPr lang="en-US" sz="1000" i="1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8321040" cy="822960"/>
          </a:xfrm>
          <a:prstGeom prst="rect">
            <a:avLst/>
          </a:prstGeom>
          <a:solidFill>
            <a:srgbClr val="EAF9F5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54864" cy="822960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78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Main Aim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an AI-powered smart food ordering and delivery system tailored for ICST university park, improving efficiency, personalization, and sustainability.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96596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965960"/>
            <a:ext cx="365760" cy="365760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20116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food ordering process via a mobile/web application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196596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965960"/>
            <a:ext cx="365760" cy="365760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74920" y="20116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AI-based demand prediction to minimize food waste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288036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880360"/>
            <a:ext cx="365760" cy="365760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29260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personalized recommendation engine for students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17720" y="288036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880360"/>
            <a:ext cx="365760" cy="365760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4920" y="29260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smart queue management system to reduce waiting time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" y="379476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794760"/>
            <a:ext cx="365760" cy="365760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" y="38404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intra-campus delivery routes using route algorithms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17720" y="379476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3794760"/>
            <a:ext cx="365760" cy="365760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74920" y="38404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real-time order tracking and status notifications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Project Details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Description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AI-Based Smart Food Delivery System is a fully integrated platform consisting of a student-facing mobile/web application, an AI engine, a kitchen management module, and a campus delivery system. The system collects real-time data from student interactions and uses machine learning models to continuously improve ordering efficiency and food management.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9933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 &amp; Functionalities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37744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&amp; Web App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27249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interface for ordering and tracking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237744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4048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Recommendation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40480" y="27249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food suggestions based on history &amp; budget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237744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7512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Prediction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75120" y="27249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forecasts peak hours and demand volume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61188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🚦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3685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Queue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05840" y="395935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queue prioritization to reduce delays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361188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37560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🗺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840480" y="3685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 Optimization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840480" y="395935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delivery within campus boundaries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361188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72200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675120" y="3685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Tracking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75120" y="395935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status updates and notifications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Tools &amp; Technologies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4069080" cy="365760"/>
          </a:xfrm>
          <a:prstGeom prst="rect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 Language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1508760"/>
            <a:ext cx="91440" cy="91440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" y="1856232"/>
            <a:ext cx="91440" cy="91440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7922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(Node.js)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005840"/>
            <a:ext cx="4069080" cy="365760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ML Frameworks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27448" y="1508760"/>
            <a:ext cx="91440" cy="91440"/>
          </a:xfrm>
          <a:prstGeom prst="ellipse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27448" y="1856232"/>
            <a:ext cx="91440" cy="91440"/>
          </a:xfrm>
          <a:prstGeom prst="ellipse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7922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27448" y="2203704"/>
            <a:ext cx="91440" cy="91440"/>
          </a:xfrm>
          <a:prstGeom prst="ellipse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1396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28803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880360"/>
            <a:ext cx="4069080" cy="365760"/>
          </a:xfrm>
          <a:prstGeom prst="rect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&amp; API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21208" y="3383280"/>
            <a:ext cx="91440" cy="91440"/>
          </a:xfrm>
          <a:prstGeom prst="ellipse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319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FastAPI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1208" y="3730752"/>
            <a:ext cx="91440" cy="91440"/>
          </a:xfrm>
          <a:prstGeom prst="ellipse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666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1208" y="4078224"/>
            <a:ext cx="91440" cy="91440"/>
          </a:xfrm>
          <a:prstGeom prst="ellipse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0142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/ MongoDB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2922651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dirty="0"/>
              <a:t>03241054</a:t>
            </a:r>
          </a:p>
        </p:txBody>
      </p:sp>
      <p:sp>
        <p:nvSpPr>
          <p:cNvPr id="31" name="Shape 29"/>
          <p:cNvSpPr/>
          <p:nvPr/>
        </p:nvSpPr>
        <p:spPr>
          <a:xfrm>
            <a:off x="4617720" y="2880360"/>
            <a:ext cx="4069080" cy="36576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27448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27448" y="3383280"/>
            <a:ext cx="91440" cy="91440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4261709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(Mobile)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27448" y="3730752"/>
            <a:ext cx="91440" cy="91440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3268" y="3978791"/>
            <a:ext cx="3657600" cy="301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(Web)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27448" y="4078224"/>
            <a:ext cx="91440" cy="91440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</a:p>
        </p:txBody>
      </p:sp>
      <p:sp>
        <p:nvSpPr>
          <p:cNvPr id="39" name="Shape 37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solidFill>
            <a:srgbClr val="E8F4FB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8640" y="46817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Google Maps API  •  Docker  •  Git / GitHub  •  Jupyter Notebook</a:t>
            </a:r>
            <a:endParaRPr lang="en-US" sz="1100" dirty="0"/>
          </a:p>
        </p:txBody>
      </p:sp>
      <p:sp>
        <p:nvSpPr>
          <p:cNvPr id="41" name="Shape 31">
            <a:extLst>
              <a:ext uri="{FF2B5EF4-FFF2-40B4-BE49-F238E27FC236}">
                <a16:creationId xmlns:a16="http://schemas.microsoft.com/office/drawing/2014/main" id="{08F607E3-53B1-4ED6-A962-322ED6294567}"/>
              </a:ext>
            </a:extLst>
          </p:cNvPr>
          <p:cNvSpPr/>
          <p:nvPr/>
        </p:nvSpPr>
        <p:spPr>
          <a:xfrm>
            <a:off x="4727448" y="4379976"/>
            <a:ext cx="91440" cy="91440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156F4FE5-3DB3-49DB-ADFF-B29AF9BA13DD}"/>
              </a:ext>
            </a:extLst>
          </p:cNvPr>
          <p:cNvSpPr/>
          <p:nvPr/>
        </p:nvSpPr>
        <p:spPr>
          <a:xfrm>
            <a:off x="4893268" y="327583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Data Source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2697480" cy="548640"/>
          </a:xfrm>
          <a:prstGeom prst="rect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Kaggle Datasets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" y="1719072"/>
            <a:ext cx="54864" cy="320040"/>
          </a:xfrm>
          <a:prstGeom prst="rect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6733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ordering history datasets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" y="2377440"/>
            <a:ext cx="54864" cy="320040"/>
          </a:xfrm>
          <a:prstGeom prst="rect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demand prediction datasets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" y="3035808"/>
            <a:ext cx="54864" cy="320040"/>
          </a:xfrm>
          <a:prstGeom prst="rect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9900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canteen transaction records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005840"/>
            <a:ext cx="2697480" cy="548640"/>
          </a:xfrm>
          <a:prstGeom prst="rect">
            <a:avLst/>
          </a:prstGeom>
          <a:solidFill>
            <a:srgbClr val="02C5A0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005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Public APIs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10712" y="1719072"/>
            <a:ext cx="54864" cy="320040"/>
          </a:xfrm>
          <a:prstGeom prst="rect">
            <a:avLst/>
          </a:prstGeom>
          <a:solidFill>
            <a:srgbClr val="02C5A0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38728" y="16733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Food Facts API (nutritional data)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10712" y="2377440"/>
            <a:ext cx="54864" cy="320040"/>
          </a:xfrm>
          <a:prstGeom prst="rect">
            <a:avLst/>
          </a:prstGeom>
          <a:solidFill>
            <a:srgbClr val="02C5A0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38728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 (campus routing)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10712" y="3035808"/>
            <a:ext cx="54864" cy="320040"/>
          </a:xfrm>
          <a:prstGeom prst="rect">
            <a:avLst/>
          </a:prstGeom>
          <a:solidFill>
            <a:srgbClr val="02C5A0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38728" y="29900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timetable APIs (demand timing)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100584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1005840"/>
            <a:ext cx="2697480" cy="548640"/>
          </a:xfrm>
          <a:prstGeom prst="rect">
            <a:avLst/>
          </a:prstGeom>
          <a:solidFill>
            <a:srgbClr val="F4884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005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Primary Collection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45352" y="1719072"/>
            <a:ext cx="54864" cy="320040"/>
          </a:xfrm>
          <a:prstGeom prst="rect">
            <a:avLst/>
          </a:prstGeom>
          <a:solidFill>
            <a:srgbClr val="F4884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16733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surveys &amp; ordering preferences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45352" y="2377440"/>
            <a:ext cx="54864" cy="320040"/>
          </a:xfrm>
          <a:prstGeom prst="rect">
            <a:avLst/>
          </a:prstGeom>
          <a:solidFill>
            <a:srgbClr val="F4884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Canteen sales records (historical)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45352" y="3035808"/>
            <a:ext cx="54864" cy="320040"/>
          </a:xfrm>
          <a:prstGeom prst="rect">
            <a:avLst/>
          </a:prstGeom>
          <a:solidFill>
            <a:srgbClr val="F4884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29900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collection via pilot testing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4370832"/>
            <a:ext cx="8321040" cy="594360"/>
          </a:xfrm>
          <a:prstGeom prst="rect">
            <a:avLst/>
          </a:prstGeom>
          <a:solidFill>
            <a:srgbClr val="FFFBF0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4370832"/>
            <a:ext cx="54864" cy="594360"/>
          </a:xfrm>
          <a:prstGeom prst="rect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389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88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Note: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6451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will be anonymized and preprocessed. Missing values handled via imputation. Features normalized before ML training.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Proposed Solution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326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9844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1709928"/>
            <a:ext cx="457200" cy="0"/>
          </a:xfrm>
          <a:prstGeom prst="line">
            <a:avLst/>
          </a:prstGeom>
          <a:noFill/>
          <a:ln w="31750">
            <a:solidFill>
              <a:srgbClr val="0D6E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600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6E9A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0240" y="1298448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129844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709928"/>
            <a:ext cx="457200" cy="0"/>
          </a:xfrm>
          <a:prstGeom prst="line">
            <a:avLst/>
          </a:prstGeom>
          <a:noFill/>
          <a:ln w="31750">
            <a:solidFill>
              <a:srgbClr val="0D6E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600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6E9A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1298448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29844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Kitchen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1709928"/>
            <a:ext cx="457200" cy="0"/>
          </a:xfrm>
          <a:prstGeom prst="line">
            <a:avLst/>
          </a:prstGeom>
          <a:noFill/>
          <a:ln w="31750">
            <a:solidFill>
              <a:srgbClr val="0D6E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600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6E9A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1298448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29844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1709928"/>
            <a:ext cx="457200" cy="0"/>
          </a:xfrm>
          <a:prstGeom prst="line">
            <a:avLst/>
          </a:prstGeom>
          <a:noFill/>
          <a:ln w="31750">
            <a:solidFill>
              <a:srgbClr val="0D6E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600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6E9A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1298448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29844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(Receives)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226771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Problem is Solved with AI/ML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2633472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2633472"/>
            <a:ext cx="54864" cy="1024128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" y="2679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Forecasting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" y="29352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LSTM / Time-Series Regression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7784" y="314553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food demand based on day, time, and campus events to minimize preparation waste.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17720" y="2633472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633472"/>
            <a:ext cx="54864" cy="1024128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2679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 Engine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64024" y="29352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Collaborative Filtering / KNN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64024" y="314553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order history and peer preferences to suggest relevant meals per student.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1480" y="3749040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" y="3749040"/>
            <a:ext cx="54864" cy="1024128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" y="3794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Queue Management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7784" y="4050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Priority Queue (Greedy)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7784" y="426110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ranked by preparation time and urgency; kitchen throughput optimized dynamically.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17720" y="3749040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3749040"/>
            <a:ext cx="54864" cy="1024128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64024" y="3794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Route Optimization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64024" y="4050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Dijkstra / A* Graph Search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64024" y="426110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most efficient intra-campus delivery path in real time.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How the System Works — Step-by-Step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651760" cy="1143000"/>
          </a:xfrm>
          <a:prstGeom prst="rect">
            <a:avLst/>
          </a:prstGeom>
          <a:solidFill>
            <a:srgbClr val="0D6E9A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15568"/>
            <a:ext cx="384048" cy="384048"/>
          </a:xfrm>
          <a:prstGeom prst="ellipse">
            <a:avLst/>
          </a:prstGeom>
          <a:solidFill>
            <a:srgbClr val="02C5A0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097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App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572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accesses mobile or web application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82112" y="100584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15568"/>
            <a:ext cx="384048" cy="384048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1097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91840" y="1572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via student ID / credentials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9904" y="1005840"/>
            <a:ext cx="2651760" cy="1143000"/>
          </a:xfrm>
          <a:prstGeom prst="rect">
            <a:avLst/>
          </a:prstGeom>
          <a:solidFill>
            <a:srgbClr val="E8F4FB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1115568"/>
            <a:ext cx="384048" cy="384048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56832" y="1097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 Menu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99632" y="1572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available food items with AI suggestions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304288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2414016"/>
            <a:ext cx="384048" cy="384048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2395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Suggests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84048" y="28712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 displayed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82112" y="2304288"/>
            <a:ext cx="2651760" cy="1143000"/>
          </a:xfrm>
          <a:prstGeom prst="rect">
            <a:avLst/>
          </a:prstGeom>
          <a:solidFill>
            <a:srgbClr val="E8F4FB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414016"/>
            <a:ext cx="384048" cy="384048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2395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 Order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291840" y="28712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confirms and pays digitally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9904" y="2304288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9632" y="2414016"/>
            <a:ext cx="384048" cy="384048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56832" y="2395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 Managed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199632" y="28712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organizes and prioritizes order queue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602736"/>
            <a:ext cx="2651760" cy="1143000"/>
          </a:xfrm>
          <a:prstGeom prst="rect">
            <a:avLst/>
          </a:prstGeom>
          <a:solidFill>
            <a:srgbClr val="E8F4FB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84048" y="3712464"/>
            <a:ext cx="384048" cy="384048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1248" y="36941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Kitchen Preps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84048" y="41696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receives optimized task list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182112" y="3602736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91840" y="3712464"/>
            <a:ext cx="384048" cy="384048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749040" y="36941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Assigned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3291840" y="41696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staff or robot assigned automatically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089904" y="3602736"/>
            <a:ext cx="2651760" cy="1143000"/>
          </a:xfrm>
          <a:prstGeom prst="rect">
            <a:avLst/>
          </a:prstGeom>
          <a:solidFill>
            <a:srgbClr val="0D6E9A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99632" y="3712464"/>
            <a:ext cx="384048" cy="384048"/>
          </a:xfrm>
          <a:prstGeom prst="ellipse">
            <a:avLst/>
          </a:prstGeom>
          <a:solidFill>
            <a:srgbClr val="02C5A0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9632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56832" y="36941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&amp; Receive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199632" y="41696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tracks live and collects order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Features in Detail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87552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87552"/>
            <a:ext cx="2651760" cy="411480"/>
          </a:xfrm>
          <a:prstGeom prst="rect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9875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Demand Prediction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1508760"/>
            <a:ext cx="91440" cy="91440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444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busy periods using past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" y="1856232"/>
            <a:ext cx="91440" cy="91440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7922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advance preparation by kitchen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" y="2203704"/>
            <a:ext cx="91440" cy="91440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1396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food overproduction and waste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82112" y="987552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987552"/>
            <a:ext cx="2651760" cy="411480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9875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 Recommendation Engine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10128" y="1508760"/>
            <a:ext cx="91440" cy="91440"/>
          </a:xfrm>
          <a:prstGeom prst="ellipse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1444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meals based on order history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0128" y="1856232"/>
            <a:ext cx="91440" cy="91440"/>
          </a:xfrm>
          <a:prstGeom prst="ellipse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17922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Considers student budget and dietary prefs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10128" y="2203704"/>
            <a:ext cx="91440" cy="91440"/>
          </a:xfrm>
          <a:prstGeom prst="ellipse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21396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over time with more data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16752" y="987552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16752" y="987552"/>
            <a:ext cx="2651760" cy="411480"/>
          </a:xfrm>
          <a:prstGeom prst="rect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9904" y="9875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🚦  Smart Queue System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44768" y="1508760"/>
            <a:ext cx="91440" cy="91440"/>
          </a:xfrm>
          <a:prstGeom prst="ellipse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1444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orders by urgency &amp; prep time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44768" y="1856232"/>
            <a:ext cx="91440" cy="91440"/>
          </a:xfrm>
          <a:prstGeom prst="ellipse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17922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re-orders kitchen task list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44768" y="2203704"/>
            <a:ext cx="91440" cy="91440"/>
          </a:xfrm>
          <a:prstGeom prst="ellipse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21396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average wait time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719072" y="27889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719072" y="2788920"/>
            <a:ext cx="2651760" cy="41148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92224" y="27889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  Route Optimization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847088" y="3310128"/>
            <a:ext cx="91440" cy="91440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93392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fastest delivery path on campus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847088" y="3657600"/>
            <a:ext cx="91440" cy="91440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93392" y="3593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congested zones in real-time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847088" y="4005072"/>
            <a:ext cx="91440" cy="91440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93392" y="3941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delivery time significantly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53712" y="27889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53712" y="2788920"/>
            <a:ext cx="265176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26864" y="27889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♻  Waste Reduction AI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81728" y="3310128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demand forecasted with ML models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81728" y="3657600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3593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kitchen of likely surplus items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81728" y="4005072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3941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repurposing or discount offers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Project Timeline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051560"/>
            <a:ext cx="45720" cy="384048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872" y="1115568"/>
            <a:ext cx="347472" cy="347472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042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Research &amp; Planning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737360" y="128016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review, requirements gathering, system design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89520" y="1060704"/>
            <a:ext cx="1143000" cy="256032"/>
          </a:xfrm>
          <a:prstGeom prst="rect">
            <a:avLst/>
          </a:prstGeom>
          <a:solidFill>
            <a:srgbClr val="0D6E9A">
              <a:alpha val="85000"/>
            </a:srgbClr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10607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737360" y="1618488"/>
            <a:ext cx="6995160" cy="0"/>
          </a:xfrm>
          <a:prstGeom prst="line">
            <a:avLst/>
          </a:prstGeom>
          <a:noFill/>
          <a:ln w="9525">
            <a:solidFill>
              <a:srgbClr val="E0EA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61872" y="1783080"/>
            <a:ext cx="347472" cy="347472"/>
          </a:xfrm>
          <a:prstGeom prst="ellipse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1709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Data Collection &amp; Prep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37360" y="1947672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sourcing, cleaning, EDA, feature engineering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89520" y="1728216"/>
            <a:ext cx="1143000" cy="256032"/>
          </a:xfrm>
          <a:prstGeom prst="rect">
            <a:avLst/>
          </a:prstGeom>
          <a:solidFill>
            <a:srgbClr val="02C5A0">
              <a:alpha val="85000"/>
            </a:srgbClr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172821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737360" y="2286000"/>
            <a:ext cx="6995160" cy="0"/>
          </a:xfrm>
          <a:prstGeom prst="line">
            <a:avLst/>
          </a:prstGeom>
          <a:noFill/>
          <a:ln w="9525">
            <a:solidFill>
              <a:srgbClr val="E0EA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61872" y="2450592"/>
            <a:ext cx="347472" cy="347472"/>
          </a:xfrm>
          <a:prstGeom prst="ellipse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2377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88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3: Model Development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37360" y="2615184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ML models: demand forecast, recommendation, routing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589520" y="2395728"/>
            <a:ext cx="1143000" cy="256032"/>
          </a:xfrm>
          <a:prstGeom prst="rect">
            <a:avLst/>
          </a:prstGeom>
          <a:solidFill>
            <a:srgbClr val="F4884A">
              <a:alpha val="85000"/>
            </a:srgbClr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23957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5–7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737360" y="2953512"/>
            <a:ext cx="6995160" cy="0"/>
          </a:xfrm>
          <a:prstGeom prst="line">
            <a:avLst/>
          </a:prstGeom>
          <a:noFill/>
          <a:ln w="9525">
            <a:solidFill>
              <a:srgbClr val="E0EA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61872" y="3118104"/>
            <a:ext cx="347472" cy="347472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61872" y="3118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37360" y="3044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5C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4: App Development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737360" y="3282696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mobile/web UI, integrate AI engine via API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3063240"/>
            <a:ext cx="1143000" cy="256032"/>
          </a:xfrm>
          <a:prstGeom prst="rect">
            <a:avLst/>
          </a:prstGeom>
          <a:solidFill>
            <a:srgbClr val="7C5CBF">
              <a:alpha val="85000"/>
            </a:srgbClr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30632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8–10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737360" y="3621024"/>
            <a:ext cx="6995160" cy="0"/>
          </a:xfrm>
          <a:prstGeom prst="line">
            <a:avLst/>
          </a:prstGeom>
          <a:noFill/>
          <a:ln w="9525">
            <a:solidFill>
              <a:srgbClr val="E0EA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61872" y="3785616"/>
            <a:ext cx="347472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61872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737360" y="3712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5: Testing &amp; Evaluation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737360" y="395020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testing, user testing, model accuracy evaluation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589520" y="3730752"/>
            <a:ext cx="1143000" cy="256032"/>
          </a:xfrm>
          <a:prstGeom prst="rect">
            <a:avLst/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37307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737360" y="4288536"/>
            <a:ext cx="6995160" cy="0"/>
          </a:xfrm>
          <a:prstGeom prst="line">
            <a:avLst/>
          </a:prstGeom>
          <a:noFill/>
          <a:ln w="9525">
            <a:solidFill>
              <a:srgbClr val="E0EA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61872" y="4453128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61872" y="4453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737360" y="43799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6: Final Submission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737360" y="461772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demo video, final presentation &amp; report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589520" y="4398264"/>
            <a:ext cx="1143000" cy="256032"/>
          </a:xfrm>
          <a:prstGeom prst="rect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9520" y="43982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13–14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Expected Benefits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29768" y="17556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 Wait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03911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queuing cuts average wait from 15+ mins to under 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🍽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86200" y="1097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10128" y="17556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Waste Reduction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203911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 prevents overproduction of food daily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00584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1097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90488" y="17556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Satisfaction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0488" y="203911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experience improves overall user satisfaction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05840" y="3017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29768" y="3675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Crowd Reduction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" y="39593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ordering removes physical queue congestion entirely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3756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86200" y="3017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3310128" y="3675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Service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10128" y="39593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routing delivers orders 3x faster than manual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292608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1792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766560" y="3017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6E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190488" y="3675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Accuracy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90488" y="39593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AI-managed system eliminates manual order entry errors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Improvements (Roadmap)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2697480" cy="502920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Near-Term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" y="1627632"/>
            <a:ext cx="2377440" cy="804672"/>
          </a:xfrm>
          <a:prstGeom prst="rect">
            <a:avLst/>
          </a:prstGeom>
          <a:solidFill>
            <a:srgbClr val="F5F9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" y="1737360"/>
            <a:ext cx="274320" cy="274320"/>
          </a:xfrm>
          <a:prstGeom prst="ellipse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00784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for conversational ordering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" y="2615184"/>
            <a:ext cx="2377440" cy="804672"/>
          </a:xfrm>
          <a:prstGeom prst="rect">
            <a:avLst/>
          </a:prstGeom>
          <a:solidFill>
            <a:srgbClr val="F5F9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" y="2724912"/>
            <a:ext cx="274320" cy="274320"/>
          </a:xfrm>
          <a:prstGeom prst="ellipse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688336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order updates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" y="3602736"/>
            <a:ext cx="2377440" cy="804672"/>
          </a:xfrm>
          <a:prstGeom prst="rect">
            <a:avLst/>
          </a:prstGeom>
          <a:solidFill>
            <a:srgbClr val="F5F9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" y="3712464"/>
            <a:ext cx="274320" cy="274320"/>
          </a:xfrm>
          <a:prstGeom prst="ellipse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67588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student ID card payments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100584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005840"/>
            <a:ext cx="2697480" cy="502920"/>
          </a:xfrm>
          <a:prstGeom prst="rect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005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Mid-Term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10712" y="1627632"/>
            <a:ext cx="2377440" cy="804672"/>
          </a:xfrm>
          <a:prstGeom prst="rect">
            <a:avLst/>
          </a:prstGeom>
          <a:solidFill>
            <a:srgbClr val="F5F9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47288" y="1737360"/>
            <a:ext cx="274320" cy="274320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1700784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 for secure, cashless payment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10712" y="2615184"/>
            <a:ext cx="2377440" cy="804672"/>
          </a:xfrm>
          <a:prstGeom prst="rect">
            <a:avLst/>
          </a:prstGeom>
          <a:solidFill>
            <a:srgbClr val="F5F9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47288" y="2724912"/>
            <a:ext cx="274320" cy="274320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2688336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rewards &amp; gamification system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10712" y="3602736"/>
            <a:ext cx="2377440" cy="804672"/>
          </a:xfrm>
          <a:prstGeom prst="rect">
            <a:avLst/>
          </a:prstGeom>
          <a:solidFill>
            <a:srgbClr val="F5F9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47288" y="3712464"/>
            <a:ext cx="274320" cy="274320"/>
          </a:xfrm>
          <a:prstGeom prst="ellipse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367588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Multi-canteen &amp; food court support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100584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1005840"/>
            <a:ext cx="2697480" cy="502920"/>
          </a:xfrm>
          <a:prstGeom prst="rect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1005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Long-Term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45352" y="1627632"/>
            <a:ext cx="2377440" cy="804672"/>
          </a:xfrm>
          <a:prstGeom prst="rect">
            <a:avLst/>
          </a:prstGeom>
          <a:solidFill>
            <a:srgbClr val="F5F9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81928" y="1737360"/>
            <a:ext cx="274320" cy="274320"/>
          </a:xfrm>
          <a:prstGeom prst="ellipse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1700784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robot / drone delivery on campus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45352" y="2615184"/>
            <a:ext cx="2377440" cy="804672"/>
          </a:xfrm>
          <a:prstGeom prst="rect">
            <a:avLst/>
          </a:prstGeom>
          <a:solidFill>
            <a:srgbClr val="F5F9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81928" y="2724912"/>
            <a:ext cx="274320" cy="274320"/>
          </a:xfrm>
          <a:prstGeom prst="ellipse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2688336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 AI for dietary health tracking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45352" y="3602736"/>
            <a:ext cx="2377440" cy="804672"/>
          </a:xfrm>
          <a:prstGeom prst="rect">
            <a:avLst/>
          </a:prstGeom>
          <a:solidFill>
            <a:srgbClr val="F5F9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81928" y="3712464"/>
            <a:ext cx="274320" cy="274320"/>
          </a:xfrm>
          <a:prstGeom prst="ellipse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367588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ERP integration with university systems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 Team Members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F4884A"/>
          </a:solidFill>
          <a:ln w="12700">
            <a:solidFill>
              <a:srgbClr val="F488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placeholder details below with your actual group information.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58368" cy="658368"/>
          </a:xfrm>
          <a:prstGeom prst="ellipse">
            <a:avLst/>
          </a:prstGeom>
          <a:solidFill>
            <a:srgbClr val="0D6E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61872" y="14813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M.A.M.Ameeth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61872" y="17556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03241086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" y="2286000"/>
            <a:ext cx="2523744" cy="45720"/>
          </a:xfrm>
          <a:prstGeom prst="rect">
            <a:avLst/>
          </a:prstGeom>
          <a:solidFill>
            <a:srgbClr val="E0EAF4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414016"/>
            <a:ext cx="54864" cy="347472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41401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Overview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73552" y="129844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410712" y="1481328"/>
            <a:ext cx="658368" cy="658368"/>
          </a:xfrm>
          <a:prstGeom prst="ellipse">
            <a:avLst/>
          </a:prstGeom>
          <a:solidFill>
            <a:srgbClr val="02C5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69664" y="14813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A1628"/>
                </a:solidFill>
                <a:latin typeface="Trebuchet MS" pitchFamily="34" charset="0"/>
              </a:rPr>
              <a:t>M.A.M.Saheel</a:t>
            </a: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</a:rPr>
              <a:t> </a:t>
            </a:r>
            <a:r>
              <a:rPr lang="en-US" sz="1200" b="1" dirty="0" err="1">
                <a:solidFill>
                  <a:srgbClr val="0A1628"/>
                </a:solidFill>
                <a:latin typeface="Trebuchet MS" pitchFamily="34" charset="0"/>
              </a:rPr>
              <a:t>Muba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69664" y="17556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03241068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83280" y="2286000"/>
            <a:ext cx="2523744" cy="45720"/>
          </a:xfrm>
          <a:prstGeom prst="rect">
            <a:avLst/>
          </a:prstGeom>
          <a:solidFill>
            <a:srgbClr val="E0EAF4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2414016"/>
            <a:ext cx="54864" cy="347472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11296" y="241401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1344" y="129844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18504" y="1481328"/>
            <a:ext cx="658368" cy="658368"/>
          </a:xfrm>
          <a:prstGeom prst="ellipse">
            <a:avLst/>
          </a:prstGeom>
          <a:solidFill>
            <a:srgbClr val="F488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77456" y="14813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A1628"/>
                </a:solidFill>
                <a:latin typeface="Trebuchet MS" pitchFamily="34" charset="0"/>
              </a:rPr>
              <a:t>M.I.M.Athnan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77456" y="17556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03241153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91072" y="2286000"/>
            <a:ext cx="2523744" cy="45720"/>
          </a:xfrm>
          <a:prstGeom prst="rect">
            <a:avLst/>
          </a:prstGeom>
          <a:solidFill>
            <a:srgbClr val="E0EAF4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91072" y="2414016"/>
            <a:ext cx="54864" cy="347472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19088" y="241401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 Design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01752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3200400"/>
            <a:ext cx="658368" cy="658368"/>
          </a:xfrm>
          <a:prstGeom prst="ellipse">
            <a:avLst/>
          </a:prstGeom>
          <a:solidFill>
            <a:srgbClr val="0D6E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200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61872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A1628"/>
                </a:solidFill>
                <a:latin typeface="Trebuchet MS" pitchFamily="34" charset="0"/>
              </a:rPr>
              <a:t>M.S.A.F.Nushka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61872" y="3474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03241171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" y="4005072"/>
            <a:ext cx="2523744" cy="45720"/>
          </a:xfrm>
          <a:prstGeom prst="rect">
            <a:avLst/>
          </a:prstGeom>
          <a:solidFill>
            <a:srgbClr val="E0EAF4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" y="4133088"/>
            <a:ext cx="54864" cy="347472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" y="413308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73552" y="301752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10712" y="3200400"/>
            <a:ext cx="658368" cy="658368"/>
          </a:xfrm>
          <a:prstGeom prst="ellipse">
            <a:avLst/>
          </a:prstGeom>
          <a:solidFill>
            <a:srgbClr val="02C5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0712" y="3200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169664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A1628"/>
                </a:solidFill>
                <a:latin typeface="Trebuchet MS" pitchFamily="34" charset="0"/>
              </a:rPr>
              <a:t>Z.Humaith</a:t>
            </a: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</a:rPr>
              <a:t> Al-</a:t>
            </a:r>
            <a:r>
              <a:rPr lang="en-US" sz="1200" b="1" dirty="0" err="1">
                <a:solidFill>
                  <a:srgbClr val="0A1628"/>
                </a:solidFill>
                <a:latin typeface="Trebuchet MS" pitchFamily="34" charset="0"/>
              </a:rPr>
              <a:t>Fikri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169664" y="3474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03241054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383280" y="4005072"/>
            <a:ext cx="2523744" cy="45720"/>
          </a:xfrm>
          <a:prstGeom prst="rect">
            <a:avLst/>
          </a:prstGeom>
          <a:solidFill>
            <a:srgbClr val="E0EAF4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83280" y="4133088"/>
            <a:ext cx="54864" cy="347472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11296" y="413308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&amp; Testing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81344" y="301752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318504" y="3200400"/>
            <a:ext cx="658368" cy="658368"/>
          </a:xfrm>
          <a:prstGeom prst="ellipse">
            <a:avLst/>
          </a:prstGeom>
          <a:solidFill>
            <a:srgbClr val="F488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18504" y="3200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077456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A1628"/>
                </a:solidFill>
                <a:latin typeface="Trebuchet MS" pitchFamily="34" charset="0"/>
              </a:rPr>
              <a:t>A.F.Aksha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077456" y="3474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03241149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91072" y="4005072"/>
            <a:ext cx="2523744" cy="45720"/>
          </a:xfrm>
          <a:prstGeom prst="rect">
            <a:avLst/>
          </a:prstGeom>
          <a:solidFill>
            <a:srgbClr val="E0EAF4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91072" y="4133088"/>
            <a:ext cx="54864" cy="347472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19088" y="413308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Conclusion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/ Lecturer: A.M.M. Aasik  |  Subject: AI / ML  |  Class: CG02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6E9A">
              <a:alpha val="15000"/>
            </a:srgbClr>
          </a:solidFill>
          <a:ln w="12700">
            <a:solidFill>
              <a:srgbClr val="0D6E9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2C5A0">
              <a:alpha val="20000"/>
            </a:srgbClr>
          </a:solidFill>
          <a:ln w="12700">
            <a:solidFill>
              <a:srgbClr val="02C5A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F4884A">
              <a:alpha val="20000"/>
            </a:srgbClr>
          </a:solidFill>
          <a:ln w="12700">
            <a:solidFill>
              <a:srgbClr val="F4884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2C5A0"/>
          </a:solidFill>
          <a:ln w="12700">
            <a:solidFill>
              <a:srgbClr val="02C5A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5029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2C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system demonstrates how AI can solve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problems in daily university life.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2377440" cy="457200"/>
          </a:xfrm>
          <a:prstGeom prst="rect">
            <a:avLst/>
          </a:prstGeom>
          <a:solidFill>
            <a:srgbClr val="02C5A0">
              <a:alpha val="75000"/>
            </a:srgbClr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Improving Efficiency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331720"/>
            <a:ext cx="2377440" cy="457200"/>
          </a:xfrm>
          <a:prstGeom prst="rect">
            <a:avLst/>
          </a:prstGeom>
          <a:solidFill>
            <a:srgbClr val="02C5A0">
              <a:alpha val="75000"/>
            </a:srgbClr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Reducing Waste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2331720"/>
            <a:ext cx="2377440" cy="457200"/>
          </a:xfrm>
          <a:prstGeom prst="rect">
            <a:avLst/>
          </a:prstGeom>
          <a:solidFill>
            <a:srgbClr val="02C5A0">
              <a:alpha val="75000"/>
            </a:srgbClr>
          </a:solidFill>
          <a:ln w="12700">
            <a:solidFill>
              <a:srgbClr val="02C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Enhancing Student Experience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learns from student behavior and improves the system automatically."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416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AI-Based Smart Food Delivery System  |  ICST University Park |  CG02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1208</Words>
  <Application>Microsoft Office PowerPoint</Application>
  <PresentationFormat>On-screen Show (16:9)</PresentationFormat>
  <Paragraphs>277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Smart Food Delivery System for University Campus</dc:title>
  <dc:subject>PptxGenJS Presentation</dc:subject>
  <dc:creator>PptxGenJS</dc:creator>
  <cp:lastModifiedBy>Mohamed Athnan Mohamed Ithrees</cp:lastModifiedBy>
  <cp:revision>6</cp:revision>
  <dcterms:created xsi:type="dcterms:W3CDTF">2026-03-28T04:48:47Z</dcterms:created>
  <dcterms:modified xsi:type="dcterms:W3CDTF">2026-03-28T15:30:29Z</dcterms:modified>
</cp:coreProperties>
</file>